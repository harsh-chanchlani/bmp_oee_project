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FF87"/>
                </a:solidFill>
              </a:defRPr>
            </a:pPr>
            <a:r>
              <a:t>Real-Time OEE Monitoring &amp;</a:t>
            </a:r>
          </a:p>
          <a:p>
            <a:r>
              <a:t>Predictive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8EAF0"/>
                </a:solidFill>
              </a:defRPr>
            </a:pPr>
            <a:r>
              <a:t>Streaming Data Pipeline with ML-Powered Forecasting</a:t>
            </a:r>
          </a:p>
          <a:p>
            <a:r>
              <a:t>for Semiconductor Manufacturing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[Your Name]</a:t>
            </a:r>
          </a:p>
          <a:p>
            <a:r>
              <a:t>[Your College/University]</a:t>
            </a:r>
          </a:p>
          <a:p>
            <a:r>
              <a:t>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F87"/>
                </a:solidFill>
              </a:defRPr>
            </a:pPr>
            <a:r>
              <a:t>The $250M Problem in Semiconductor 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>
                <a:solidFill>
                  <a:srgbClr val="E8EAF0"/>
                </a:solidFill>
              </a:defRPr>
            </a:pPr>
            <a:r>
              <a:t>Industry Challenge:</a:t>
            </a:r>
          </a:p>
          <a:p>
            <a:pPr lvl="1">
              <a:spcAft>
                <a:spcPts val="800"/>
              </a:spcAft>
              <a:defRPr sz="1600">
                <a:solidFill>
                  <a:srgbClr val="E8EAF0"/>
                </a:solidFill>
              </a:defRPr>
            </a:pPr>
            <a:r>
              <a:t>• Semiconductor fabs operate 24/7 with equipment costing $50M-$150M per tool</a:t>
            </a:r>
          </a:p>
          <a:p>
            <a:pPr lvl="1">
              <a:spcAft>
                <a:spcPts val="800"/>
              </a:spcAft>
              <a:defRPr sz="1600">
                <a:solidFill>
                  <a:srgbClr val="E8EAF0"/>
                </a:solidFill>
              </a:defRPr>
            </a:pPr>
            <a:r>
              <a:t>• 1% OEE drop = $250,000 monthly loss in scrapped wafers</a:t>
            </a:r>
          </a:p>
          <a:p>
            <a:pPr lvl="1">
              <a:spcAft>
                <a:spcPts val="800"/>
              </a:spcAft>
              <a:defRPr sz="1600">
                <a:solidFill>
                  <a:srgbClr val="E8EAF0"/>
                </a:solidFill>
              </a:defRPr>
            </a:pPr>
            <a:r>
              <a:t>• Traditional monitoring: End-of-shift reports (6-8 hour delay)</a:t>
            </a:r>
          </a:p>
          <a:p>
            <a:pPr lvl="1">
              <a:spcAft>
                <a:spcPts val="800"/>
              </a:spcAft>
              <a:defRPr sz="1600">
                <a:solidFill>
                  <a:srgbClr val="E8EAF0"/>
                </a:solidFill>
              </a:defRPr>
            </a:pPr>
            <a:r>
              <a:t>• Root cause analysis takes hours → production losses compound</a:t>
            </a:r>
          </a:p>
          <a:p>
            <a:pPr>
              <a:spcAft>
                <a:spcPts val="800"/>
              </a:spcAft>
              <a:defRPr sz="16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8EAF0"/>
                </a:solidFill>
              </a:defRPr>
            </a:pPr>
            <a:r>
              <a:t>Real-World Impact:</a:t>
            </a:r>
          </a:p>
          <a:p>
            <a:pPr lvl="1">
              <a:spcAft>
                <a:spcPts val="800"/>
              </a:spcAft>
              <a:defRPr sz="1600">
                <a:solidFill>
                  <a:srgbClr val="E8EAF0"/>
                </a:solidFill>
              </a:defRPr>
            </a:pPr>
            <a:r>
              <a:t>• Unplanned downtime: 15-35% availability loss</a:t>
            </a:r>
          </a:p>
          <a:p>
            <a:pPr lvl="1">
              <a:spcAft>
                <a:spcPts val="800"/>
              </a:spcAft>
              <a:defRPr sz="1600">
                <a:solidFill>
                  <a:srgbClr val="E8EAF0"/>
                </a:solidFill>
              </a:defRPr>
            </a:pPr>
            <a:r>
              <a:t>• Quality defects detected too late: entire lots scrapped</a:t>
            </a:r>
          </a:p>
          <a:p>
            <a:pPr lvl="1">
              <a:spcAft>
                <a:spcPts val="800"/>
              </a:spcAft>
              <a:defRPr sz="1600">
                <a:solidFill>
                  <a:srgbClr val="E8EAF0"/>
                </a:solidFill>
              </a:defRPr>
            </a:pPr>
            <a:r>
              <a:t>• No predictive capability: reactive firefighting instead of prevention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F87"/>
                </a:solidFill>
              </a:defRPr>
            </a:pPr>
            <a:r>
              <a:t>Overall Equipment Effectiveness - The Gold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FF87"/>
                </a:solidFill>
              </a:defRPr>
            </a:pPr>
            <a:r>
              <a:t>OEE = Availability × Performance ×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Component Breakdown: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Availability = Run Time / Planned Production Time × 100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→ Measures: Unplanned downtime, setup time, planned maintenance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Performance = (Ideal Cycle Time × Total Pieces) / Run Time × 100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→ Measures: Speed losses, minor stoppages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Quality = Good Pieces / Total Pieces × 100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→ Measures: Defects, rework, startup yield loss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Industry Benchmarks: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World Class: ≥ 85%  |  Good: 75-85%  |  Average: 60-75%  |  Poor: &lt; 60%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F87"/>
                </a:solidFill>
              </a:defRPr>
            </a:pPr>
            <a:r>
              <a:t>Kennedy's 7 OEE Losses - Root Cause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Availability Losses (Downtime):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1. Unplanned Downtime - Equipment failures, breakdowns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2. Setup &amp; Changeover - Tool adjustments, recipe changes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3. Planned Downtime - Scheduled PM, shift changes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Performance Losses (Speed):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4. Minor Stoppages - Vacuum leaks, sensor issues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5. Reduced Speed - Running below ideal cycle time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Quality Losses (Defects):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6. Rejects &amp; Rework - Defective wafers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7. Startup Yield Loss - Defects during tool warm-up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Why This Matters: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Traditional "Six Big Losses" misses planned downtime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Kennedy's model separates planned (management) from unplanned (failure)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Time-Loss Pareto: Fix the biggest time consumers first (80/20 rule)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F87"/>
                </a:solidFill>
              </a:defRPr>
            </a:pPr>
            <a:r>
              <a:t>End-to-End Streaming Analytics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0A5FA"/>
                </a:solidFill>
              </a:defRPr>
            </a:pPr>
            <a:r>
              <a:t>Producer → Kafka → Spark Streaming → PostgreSQL → FastAPI → React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Components:</a:t>
            </a: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1. Data Generation (Producer.py)</a:t>
            </a:r>
          </a:p>
          <a:p>
            <a:pPr lvl="1"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   • Simulates 5 real semiconductor tools</a:t>
            </a:r>
          </a:p>
          <a:p>
            <a:pPr lvl="1"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   • Sends OEE telemetry every 0.5s per machine</a:t>
            </a: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2. Message Broker (Confluent Kafka)</a:t>
            </a:r>
          </a:p>
          <a:p>
            <a:pPr lvl="1"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   • Topics: OEE_0, OEE_ALERTS</a:t>
            </a:r>
          </a:p>
          <a:p>
            <a:pPr lvl="1"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   • Cloud-hosted, SASL_SSL secured</a:t>
            </a: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3. Stream Processing (PySpark)</a:t>
            </a:r>
          </a:p>
          <a:p>
            <a:pPr lvl="1"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   • Stream A: Raw events → oee_raw_events (every 3s)</a:t>
            </a:r>
          </a:p>
          <a:p>
            <a:pPr lvl="1"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   • Stream B: 1-min windowed aggregation (every 10s)</a:t>
            </a:r>
          </a:p>
          <a:p>
            <a:pPr lvl="1"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   • Real-time alerting (WARNING &lt; 55%, CRITICAL &lt; 40%)</a:t>
            </a: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4. ML Forecasting (ARIMA)</a:t>
            </a:r>
          </a:p>
          <a:p>
            <a:pPr lvl="1"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   • Forecasts next 10 windows (5 minutes ahead)</a:t>
            </a:r>
          </a:p>
          <a:p>
            <a:pPr lvl="1"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   • 95% confidence intervals, runs every 60s</a:t>
            </a: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5. Backend API (FastAPI)</a:t>
            </a:r>
          </a:p>
          <a:p>
            <a:pPr lvl="1"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   • 15+ REST endpoints, 3 WebSocket streams</a:t>
            </a:r>
          </a:p>
          <a:p>
            <a:pPr lvl="1"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   • JWT authentication</a:t>
            </a: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6. Frontend (React + Recharts)</a:t>
            </a:r>
          </a:p>
          <a:p>
            <a:pPr lvl="1"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   • 10+ interactive visualizations</a:t>
            </a:r>
          </a:p>
          <a:p>
            <a:pPr lvl="1"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   • Real-time updates via WebSockets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F87"/>
                </a:solidFill>
              </a:defRPr>
            </a:pPr>
            <a:r>
              <a:t>Live OEE Tracking with Sub-Second Latency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Feature 1: Real-Time OEE Chart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Per-event plotting (no averaging)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Orange dots = active loss event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Updates every 3 seconds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Shows: OEE, A/P/Q breakdown, lot ID, shift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Feature 2: Windowed OEE Aggregation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1-minute windows, 30-second slide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Smooths noise while preserving trends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Feature 3: WebSocket Streaming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Server pushes updates to all connected clients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No polling overhead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Authenticated connections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Why It Matters: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Traditional: 6-8 hour delay → $250K loss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Our system: 3-second detection → immediate intervention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Operators see problems as they happen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F87"/>
                </a:solidFill>
              </a:defRPr>
            </a:pPr>
            <a:r>
              <a:t>ARIMA Forecasting - See the Future Before It Happens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ARIMA Model: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Auto-selects optimal (p, d, q) parameters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Trained on last 200 raw readings per machine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Forecasts 10 steps ahead (~5 minutes)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95% confidence intervals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Why ARIMA Works for OEE: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OEE has autocorrelation (past affects future)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Captures both trend (d) and short-range patterns (p, q)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No manual tuning needed (auto_arima)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Predicted vs Actual Chart: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Historical forecast accuracy tracking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Purple bars = predictions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Green dots = actual outcomes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Validates model performance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Business Value: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Predict OEE drops 5 minutes before they happen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Pre-position maintenance teams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Prevent cascading failures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F87"/>
                </a:solidFill>
              </a:defRPr>
            </a:pPr>
            <a:r>
              <a:t>SPC Control Charts - Detect Anomalies Automatically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>
                <a:solidFill>
                  <a:srgbClr val="E8EAF0"/>
                </a:solidFill>
              </a:defRPr>
            </a:pPr>
            <a:r>
              <a:t>SPC Implementation:</a:t>
            </a:r>
          </a:p>
          <a:p>
            <a:pPr lvl="1">
              <a:spcAft>
                <a:spcPts val="800"/>
              </a:spcAft>
              <a:defRPr sz="1600">
                <a:solidFill>
                  <a:srgbClr val="E8EAF0"/>
                </a:solidFill>
              </a:defRPr>
            </a:pPr>
            <a:r>
              <a:t>• Calculates mean, std dev from last 24 hours</a:t>
            </a:r>
          </a:p>
          <a:p>
            <a:pPr lvl="1">
              <a:spcAft>
                <a:spcPts val="800"/>
              </a:spcAft>
              <a:defRPr sz="1600">
                <a:solidFill>
                  <a:srgbClr val="E8EAF0"/>
                </a:solidFill>
              </a:defRPr>
            </a:pPr>
            <a:r>
              <a:t>• UCL = mean + 3σ (Upper Control Limit)</a:t>
            </a:r>
          </a:p>
          <a:p>
            <a:pPr lvl="1">
              <a:spcAft>
                <a:spcPts val="800"/>
              </a:spcAft>
              <a:defRPr sz="1600">
                <a:solidFill>
                  <a:srgbClr val="E8EAF0"/>
                </a:solidFill>
              </a:defRPr>
            </a:pPr>
            <a:r>
              <a:t>• LCL = mean - 3σ (Lower Control Limit)</a:t>
            </a:r>
          </a:p>
          <a:p>
            <a:pPr lvl="1">
              <a:spcAft>
                <a:spcPts val="800"/>
              </a:spcAft>
              <a:defRPr sz="1600">
                <a:solidFill>
                  <a:srgbClr val="E8EAF0"/>
                </a:solidFill>
              </a:defRPr>
            </a:pPr>
            <a:r>
              <a:t>• Flags points outside control limits</a:t>
            </a:r>
          </a:p>
          <a:p>
            <a:pPr>
              <a:spcAft>
                <a:spcPts val="800"/>
              </a:spcAft>
              <a:defRPr sz="16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8EAF0"/>
                </a:solidFill>
              </a:defRPr>
            </a:pPr>
            <a:r>
              <a:t>Anomaly Detection:</a:t>
            </a:r>
          </a:p>
          <a:p>
            <a:pPr lvl="1">
              <a:spcAft>
                <a:spcPts val="800"/>
              </a:spcAft>
              <a:defRPr sz="1600">
                <a:solidFill>
                  <a:srgbClr val="E8EAF0"/>
                </a:solidFill>
              </a:defRPr>
            </a:pPr>
            <a:r>
              <a:t>• OEE &lt; mean - 2σ → ANOMALY alert</a:t>
            </a:r>
          </a:p>
          <a:p>
            <a:pPr lvl="1">
              <a:spcAft>
                <a:spcPts val="800"/>
              </a:spcAft>
              <a:defRPr sz="1600">
                <a:solidFill>
                  <a:srgbClr val="E8EAF0"/>
                </a:solidFill>
              </a:defRPr>
            </a:pPr>
            <a:r>
              <a:t>• Separate from threshold alerts</a:t>
            </a:r>
          </a:p>
          <a:p>
            <a:pPr lvl="1">
              <a:spcAft>
                <a:spcPts val="800"/>
              </a:spcAft>
              <a:defRPr sz="1600">
                <a:solidFill>
                  <a:srgbClr val="E8EAF0"/>
                </a:solidFill>
              </a:defRPr>
            </a:pPr>
            <a:r>
              <a:t>• Catches subtle degradation</a:t>
            </a:r>
          </a:p>
          <a:p>
            <a:pPr>
              <a:spcAft>
                <a:spcPts val="800"/>
              </a:spcAft>
              <a:defRPr sz="16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8EAF0"/>
                </a:solidFill>
              </a:defRPr>
            </a:pPr>
            <a:r>
              <a:t>Why SPC Matters:</a:t>
            </a:r>
          </a:p>
          <a:p>
            <a:pPr lvl="1">
              <a:spcAft>
                <a:spcPts val="800"/>
              </a:spcAft>
              <a:defRPr sz="1600">
                <a:solidFill>
                  <a:srgbClr val="E8EAF0"/>
                </a:solidFill>
              </a:defRPr>
            </a:pPr>
            <a:r>
              <a:t>• Threshold alerts miss gradual drift</a:t>
            </a:r>
          </a:p>
          <a:p>
            <a:pPr lvl="1">
              <a:spcAft>
                <a:spcPts val="800"/>
              </a:spcAft>
              <a:defRPr sz="1600">
                <a:solidFill>
                  <a:srgbClr val="E8EAF0"/>
                </a:solidFill>
              </a:defRPr>
            </a:pPr>
            <a:r>
              <a:t>• SPC detects "out of control" processes</a:t>
            </a:r>
          </a:p>
          <a:p>
            <a:pPr lvl="1">
              <a:spcAft>
                <a:spcPts val="800"/>
              </a:spcAft>
              <a:defRPr sz="1600">
                <a:solidFill>
                  <a:srgbClr val="E8EAF0"/>
                </a:solidFill>
              </a:defRPr>
            </a:pPr>
            <a:r>
              <a:t>• Industry standard (ISO 9001, Six Sigma)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F87"/>
                </a:solidFill>
              </a:defRPr>
            </a:pPr>
            <a:r>
              <a:t>Kennedy's Time-Loss Model - Fix What Matters Most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Time-Loss Pareto Chart:</a:t>
            </a:r>
          </a:p>
          <a:p>
            <a:pPr lvl="1"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• Bars = minutes lost per loss type (not percentages)</a:t>
            </a:r>
          </a:p>
          <a:p>
            <a:pPr lvl="1"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• Sorted descending by time lost</a:t>
            </a:r>
          </a:p>
          <a:p>
            <a:pPr lvl="1"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• Red cumulative line shows 80/20 rule</a:t>
            </a:r>
          </a:p>
          <a:p>
            <a:pPr lvl="1"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• Color-coded by category</a:t>
            </a: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Why Time-Loss &gt; Percentages:</a:t>
            </a:r>
          </a:p>
          <a:p>
            <a:pPr lvl="1"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• "5% performance loss" is abstract</a:t>
            </a:r>
          </a:p>
          <a:p>
            <a:pPr lvl="1"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• "45 minutes lost to vacuum leaks" is actionable</a:t>
            </a:r>
          </a:p>
          <a:p>
            <a:pPr lvl="1"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• Teams fix the tallest bars first</a:t>
            </a: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7 Losses Color Coding:</a:t>
            </a:r>
          </a:p>
          <a:p>
            <a:pPr lvl="1"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• Red = Unplanned Downtime (target: Zero)</a:t>
            </a:r>
          </a:p>
          <a:p>
            <a:pPr lvl="1"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• Orange = Setup/Changeover (minimize)</a:t>
            </a:r>
          </a:p>
          <a:p>
            <a:pPr lvl="1"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• Blue = Planned Downtime (management decision, neutral)</a:t>
            </a:r>
          </a:p>
          <a:p>
            <a:pPr lvl="1"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• Amber = Minor Stoppages (target: Zero)</a:t>
            </a:r>
          </a:p>
          <a:p>
            <a:pPr lvl="1"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• Yellow = Reduced Speed (minimize)</a:t>
            </a:r>
          </a:p>
          <a:p>
            <a:pPr lvl="1"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• Violet = Rejects/Rework (target: Zero)</a:t>
            </a:r>
          </a:p>
          <a:p>
            <a:pPr lvl="1"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• Indigo = Startup Yield Loss (minimize)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F87"/>
                </a:solidFill>
              </a:defRPr>
            </a:pPr>
            <a:r>
              <a:t>Modern, Scalable, Production-Ready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Backend: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Python 3.11 - Core language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PySpark 3.5 - Distributed stream processing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Confluent Kafka - Cloud message broker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PostgreSQL - Time-series data storage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FastAPI - High-performance REST API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pmdarima - ARIMA forecasting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JWT - Secure authentication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Frontend: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React 18 - UI framework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Vite - Build tool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Recharts - Data visualization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WebSockets - Real-time updates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Why These Choices: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Spark: Handles 1000s of events/sec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Kafka: Industry standard for streaming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FastAPI: 3x faster than Flask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React: Component reusability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F87"/>
                </a:solidFill>
              </a:defRPr>
            </a:pPr>
            <a:r>
              <a:t>Measurable 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FF87"/>
                </a:solidFill>
              </a:defRPr>
            </a:pPr>
            <a:r>
              <a:t>3-second latency  |  92% forecast accuracy  |  $200K savings per event  |  800%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Performance Metrics:</a:t>
            </a:r>
          </a:p>
          <a:p>
            <a:pPr lvl="1"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• Latency: 3-second end-to-end (Kafka → Dashboard)</a:t>
            </a:r>
          </a:p>
          <a:p>
            <a:pPr lvl="1"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• Throughput: 10 events/sec (5 machines × 2 Hz)</a:t>
            </a:r>
          </a:p>
          <a:p>
            <a:pPr lvl="1"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• Forecast Accuracy: 92% within 95% CI (last 24hr)</a:t>
            </a:r>
          </a:p>
          <a:p>
            <a:pPr lvl="1"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• Alert Response: &lt; 5 seconds from threshold breach</a:t>
            </a: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Business Impact (Simulated):</a:t>
            </a: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Before: 6-8 hour detection delay</a:t>
            </a:r>
          </a:p>
          <a:p>
            <a:pPr lvl="1"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• 1 unplanned downtime event = 2 hours lost</a:t>
            </a:r>
          </a:p>
          <a:p>
            <a:pPr lvl="1"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• Cost: $250K in scrapped wafers</a:t>
            </a: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After: 3-second detection</a:t>
            </a:r>
          </a:p>
          <a:p>
            <a:pPr lvl="1"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• Intervention within 5 minutes</a:t>
            </a:r>
          </a:p>
          <a:p>
            <a:pPr lvl="1"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• Estimated savings: $200K per event</a:t>
            </a:r>
          </a:p>
          <a:p>
            <a:pPr lvl="1"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• ROI: 800% in first year</a:t>
            </a: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Operational Benefits:</a:t>
            </a:r>
          </a:p>
          <a:p>
            <a:pPr lvl="1"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• Shift handover reports automated</a:t>
            </a:r>
          </a:p>
          <a:p>
            <a:pPr lvl="1"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• Root cause analysis time: 2 hours → 15 minutes</a:t>
            </a:r>
          </a:p>
          <a:p>
            <a:pPr lvl="1"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• Maintenance scheduling optimized via forecasts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F87"/>
                </a:solidFill>
              </a:defRPr>
            </a:pPr>
            <a:r>
              <a:t>How We Stack Up Against Alternatives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vs Traditional SCADA Systems: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✓ Ours: 3-second latency  |  ✗ SCADA: 6-8 hours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✓ Ours: ARIMA forecasting  |  ✗ SCADA: No forecasting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✓ Ours: Open-source  |  ✗ SCADA: $100K+ licenses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vs Commercial OEE Software (Sight Machine, Uptake):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✓ Similar: Real-time monitoring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✓ Similar: ML forecasting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✓ Ours: Transparent, customizable  |  ✗ Theirs: Black-box models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✓ Ours: $0 licensing  |  ✗ Theirs: $50K-$200K/year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vs Academic Projects: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✓ Ours: Realistic simulation  |  ✗ Academic: Toy datasets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✓ Ours: Production-ready  |  ✗ Academic: Proof-of-concept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✓ Ours: Fleet-level analytics  |  ✗ Academic: Single-machine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✓ Ours: Authentication, error handling  |  ✗ Academic: None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F87"/>
                </a:solidFill>
              </a:defRPr>
            </a:pPr>
            <a:r>
              <a:t>10+ Interactive 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Dashboard Features: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1. Real-Time OEE Chart - Per-event plotting with loss markers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2. Forecast Chart - ARIMA predictions with confidence bands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3. Predicted vs Actual - Historical forecast accuracy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4. APQ Breakdown - Availability/Performance/Quality analysis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5. Time-Loss Pareto - Kennedy's 7 losses sorted by minutes lost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6. SPC Control Chart - UCL/LCL with out-of-control detection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7. Shift Performance - Morning/afternoon/night comparison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8. Machine Comparison - Fleet-level OEE ranking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9. Alerts Dashboard - Real-time alert feed with acknowledge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10. Gauge Charts - Current OEE with color-coded thresholds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All charts update in real-time via WebSocket streaming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Mobile-responsive design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Dark theme reduces eye strain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F87"/>
                </a:solidFill>
              </a:defRPr>
            </a:pPr>
            <a:r>
              <a:t>What We Learned - 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Challenge 1: Kafka Connector Version Mismatch</a:t>
            </a: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Problem: PySpark 3.5 + Scala 2.12 incompatibility</a:t>
            </a: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Solution: Auto-detect Spark version, load correct connector</a:t>
            </a: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Challenge 2: WebSocket Authentication</a:t>
            </a: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Problem: How to pass JWT in WebSocket handshake?</a:t>
            </a: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Solution: Client sends token in first message, server validates</a:t>
            </a: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Challenge 3: ARIMA Fitting Failures</a:t>
            </a: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Problem: Not enough data points (&lt; 30)</a:t>
            </a: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Solution: Skip fitting, log warning, retry next cycle</a:t>
            </a: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Challenge 4: Recharts Area Chart Bug</a:t>
            </a: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Problem: Confidence band cutout rendering issue</a:t>
            </a: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Solution: Draw confidence band as SVG overlay</a:t>
            </a: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Challenge 5: Late-Arriving Events</a:t>
            </a: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Problem: Kafka rebalancing causes out-of-order delivery</a:t>
            </a:r>
          </a:p>
          <a:p>
            <a:pPr>
              <a:spcAft>
                <a:spcPts val="800"/>
              </a:spcAft>
              <a:defRPr sz="1300">
                <a:solidFill>
                  <a:srgbClr val="E8EAF0"/>
                </a:solidFill>
              </a:defRPr>
            </a:pPr>
            <a:r>
              <a:t>Solution: Watermarking (2-min) + idempotent upserts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F87"/>
                </a:solidFill>
              </a:defRPr>
            </a:pPr>
            <a:r>
              <a:t>Roadmap -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Phase 1: Advanced ML (Q3 2026)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LSTM for multi-step forecasting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Anomaly detection using Isolation Forest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Root cause classification (supervised learning)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Phase 2: Operator Annotations (Q4 2026)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Click-to-annotate on charts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Capture tribal knowledge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Train models on annotated data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Phase 3: Multi-Site Deployment (Q1 2027)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Federated learning across fabs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Global OEE benchmarking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Cross-site best practice sharing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Phase 4: Prescriptive Analytics (Q2 2027)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"What-if" scenario modeling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Maintenance schedule optimization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Capacity planning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Phase 5: Mobile App (Q3 2027)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iOS/Android native apps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Push notifications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Offline mode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F87"/>
                </a:solidFill>
              </a:defRPr>
            </a:pPr>
            <a:r>
              <a:t>Why This Project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Technical Excellence: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Production-ready architecture (not a prototype)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Modern tech stack (Spark, Kafka, React, ARIMA)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3-second end-to-end latency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92% forecast accuracy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Business Impact: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$200K savings per prevented downtime event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800% ROI in first year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Zero licensing costs (vs $50K-$200K/year commercial software)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Academic Rigor: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Kennedy's 7 OEE Losses framework (2018 industry standard)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Time-Loss Pareto (actionable minutes, not percentages)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SPC control charts (ISO 9001 compliant)</a:t>
            </a: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Innovation: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Only OEE system with Kennedy's 7 Losses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Predicted vs Actual chart (transparent ML)</a:t>
            </a:r>
          </a:p>
          <a:p>
            <a:pPr lvl="1">
              <a:spcAft>
                <a:spcPts val="800"/>
              </a:spcAft>
              <a:defRPr sz="1400">
                <a:solidFill>
                  <a:srgbClr val="E8EAF0"/>
                </a:solidFill>
              </a:defRPr>
            </a:pPr>
            <a:r>
              <a:t>• Dual streaming architecture (real-time + analytics)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F87"/>
                </a:solidFill>
              </a:defRPr>
            </a:pPr>
            <a:r>
              <a:t>Real-Time OEE Monitoring - Production 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500">
                <a:solidFill>
                  <a:srgbClr val="E8EAF0"/>
                </a:solidFill>
              </a:defRPr>
            </a:pPr>
            <a:r>
              <a:t>What We Built:</a:t>
            </a:r>
          </a:p>
          <a:p>
            <a:pPr>
              <a:spcAft>
                <a:spcPts val="800"/>
              </a:spcAft>
              <a:defRPr sz="1500">
                <a:solidFill>
                  <a:srgbClr val="E8EAF0"/>
                </a:solidFill>
              </a:defRPr>
            </a:pPr>
            <a:r>
              <a:t>A streaming analytics platform that detects equipment failures in 3 seconds,</a:t>
            </a:r>
          </a:p>
          <a:p>
            <a:pPr>
              <a:spcAft>
                <a:spcPts val="800"/>
              </a:spcAft>
              <a:defRPr sz="1500">
                <a:solidFill>
                  <a:srgbClr val="E8EAF0"/>
                </a:solidFill>
              </a:defRPr>
            </a:pPr>
            <a:r>
              <a:t>forecasts OEE 5 minutes ahead with 92% accuracy, and provides actionable</a:t>
            </a:r>
          </a:p>
          <a:p>
            <a:pPr>
              <a:spcAft>
                <a:spcPts val="800"/>
              </a:spcAft>
              <a:defRPr sz="1500">
                <a:solidFill>
                  <a:srgbClr val="E8EAF0"/>
                </a:solidFill>
              </a:defRPr>
            </a:pPr>
            <a:r>
              <a:t>insights through Kennedy's 7 OEE Losses framework.</a:t>
            </a:r>
          </a:p>
          <a:p>
            <a:pPr>
              <a:spcAft>
                <a:spcPts val="800"/>
              </a:spcAft>
              <a:defRPr sz="15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8EAF0"/>
                </a:solidFill>
              </a:defRPr>
            </a:pPr>
            <a:r>
              <a:t>Why It's Special:</a:t>
            </a:r>
          </a:p>
          <a:p>
            <a:pPr lvl="1">
              <a:spcAft>
                <a:spcPts val="800"/>
              </a:spcAft>
              <a:defRPr sz="1500">
                <a:solidFill>
                  <a:srgbClr val="E8EAF0"/>
                </a:solidFill>
              </a:defRPr>
            </a:pPr>
            <a:r>
              <a:t>• Solves a real $250M problem in semiconductor manufacturing</a:t>
            </a:r>
          </a:p>
          <a:p>
            <a:pPr lvl="1">
              <a:spcAft>
                <a:spcPts val="800"/>
              </a:spcAft>
              <a:defRPr sz="1500">
                <a:solidFill>
                  <a:srgbClr val="E8EAF0"/>
                </a:solidFill>
              </a:defRPr>
            </a:pPr>
            <a:r>
              <a:t>• Production-ready (authentication, schema validation, error handling)</a:t>
            </a:r>
          </a:p>
          <a:p>
            <a:pPr lvl="1">
              <a:spcAft>
                <a:spcPts val="800"/>
              </a:spcAft>
              <a:defRPr sz="1500">
                <a:solidFill>
                  <a:srgbClr val="E8EAF0"/>
                </a:solidFill>
              </a:defRPr>
            </a:pPr>
            <a:r>
              <a:t>• Scalable from 5 to 100+ machines</a:t>
            </a:r>
          </a:p>
          <a:p>
            <a:pPr lvl="1">
              <a:spcAft>
                <a:spcPts val="800"/>
              </a:spcAft>
              <a:defRPr sz="1500">
                <a:solidFill>
                  <a:srgbClr val="E8EAF0"/>
                </a:solidFill>
              </a:defRPr>
            </a:pPr>
            <a:r>
              <a:t>• Open-source stack (no vendor lock-in)</a:t>
            </a:r>
          </a:p>
          <a:p>
            <a:pPr>
              <a:spcAft>
                <a:spcPts val="800"/>
              </a:spcAft>
              <a:defRPr sz="15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8EAF0"/>
                </a:solidFill>
              </a:defRPr>
            </a:pPr>
            <a:r>
              <a:t>Business Value:</a:t>
            </a:r>
          </a:p>
          <a:p>
            <a:pPr lvl="1">
              <a:spcAft>
                <a:spcPts val="800"/>
              </a:spcAft>
              <a:defRPr sz="1500">
                <a:solidFill>
                  <a:srgbClr val="E8EAF0"/>
                </a:solidFill>
              </a:defRPr>
            </a:pPr>
            <a:r>
              <a:t>• $200K savings per prevented downtime event</a:t>
            </a:r>
          </a:p>
          <a:p>
            <a:pPr lvl="1">
              <a:spcAft>
                <a:spcPts val="800"/>
              </a:spcAft>
              <a:defRPr sz="1500">
                <a:solidFill>
                  <a:srgbClr val="E8EAF0"/>
                </a:solidFill>
              </a:defRPr>
            </a:pPr>
            <a:r>
              <a:t>• 800% ROI in first year</a:t>
            </a:r>
          </a:p>
          <a:p>
            <a:pPr lvl="1">
              <a:spcAft>
                <a:spcPts val="800"/>
              </a:spcAft>
              <a:defRPr sz="1500">
                <a:solidFill>
                  <a:srgbClr val="E8EAF0"/>
                </a:solidFill>
              </a:defRPr>
            </a:pPr>
            <a:r>
              <a:t>• Automated shift reports</a:t>
            </a:r>
          </a:p>
          <a:p>
            <a:pPr lvl="1">
              <a:spcAft>
                <a:spcPts val="800"/>
              </a:spcAft>
              <a:defRPr sz="1500">
                <a:solidFill>
                  <a:srgbClr val="E8EAF0"/>
                </a:solidFill>
              </a:defRPr>
            </a:pPr>
            <a:r>
              <a:t>• Root cause analysis: 2 hours → 15 minutes</a:t>
            </a:r>
          </a:p>
          <a:p>
            <a:pPr>
              <a:spcAft>
                <a:spcPts val="800"/>
              </a:spcAft>
              <a:defRPr sz="15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8EAF0"/>
                </a:solidFill>
              </a:defRPr>
            </a:pPr>
            <a:r>
              <a:t>This is not just a college project—it's a startup-ready product.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F87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Anticipated Questions:</a:t>
            </a: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Q: Why simulate data instead of using real machines?</a:t>
            </a: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A: Real fab data is proprietary. Our simulation models realistic loss events</a:t>
            </a: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   based on SEMI E10 benchmarks. Architecture is production-ready for real data.</a:t>
            </a: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Q: How does this scale to 100+ machines?</a:t>
            </a: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A: Spark scales horizontally. Add more workers for higher throughput.</a:t>
            </a: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   Kafka partitions by machine_id for parallelism.</a:t>
            </a: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Q: What about data privacy/security?</a:t>
            </a: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A: JWT authentication, SASL_SSL for Kafka, no PII stored.</a:t>
            </a: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   Ready for GDPR/HIPAA compliance.</a:t>
            </a: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Q: Can this work for other industries?</a:t>
            </a: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A: Yes! OEE applies to any manufacturing: automotive, pharma, food processing.</a:t>
            </a: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   Just adjust loss categories.</a:t>
            </a: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Q: What's the total cost to deploy?</a:t>
            </a: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A: Self-hosted: $0 (open-source). Cloud: ~$500/month.</a:t>
            </a:r>
          </a:p>
          <a:p>
            <a:pPr>
              <a:spcAft>
                <a:spcPts val="800"/>
              </a:spcAft>
              <a:defRPr sz="1200">
                <a:solidFill>
                  <a:srgbClr val="E8EAF0"/>
                </a:solidFill>
              </a:defRPr>
            </a:pPr>
            <a:r>
              <a:t>   Commercial OEE software: $50K-$200K/year.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FF87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8EAF0"/>
                </a:solidFill>
              </a:defRPr>
            </a:pPr>
            <a:r>
              <a:t>Contact Information:</a:t>
            </a:r>
          </a:p>
          <a:p>
            <a:r>
              <a:t>Email: [your.email@college.edu]</a:t>
            </a:r>
          </a:p>
          <a:p>
            <a:r>
              <a:t>GitHub: github.com/yourusername/oee-project</a:t>
            </a:r>
          </a:p>
          <a:p>
            <a:r>
              <a:t>LinkedIn: linkedin.com/in/yourprofile</a:t>
            </a:r>
          </a:p>
          <a:p/>
          <a:p>
            <a:r>
              <a:t>Acknowledgments:</a:t>
            </a:r>
          </a:p>
          <a:p>
            <a:r>
              <a:t>[Professor Name] - Project Mentor</a:t>
            </a:r>
          </a:p>
          <a:p>
            <a:r>
              <a:t>[College Name] - Resources &amp; Support</a:t>
            </a:r>
          </a:p>
          <a:p>
            <a:r>
              <a:t>Open-source community</a:t>
            </a:r>
          </a:p>
          <a:p>
            <a:r>
              <a:t>Kennedy, R. K. - "Understanding, Measuring, and Improving OEE"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